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37D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5840" y="1371600"/>
            <a:ext cx="10149840" cy="4114800"/>
          </a:xfrm>
          <a:prstGeom prst="rect">
            <a:avLst/>
          </a:prstGeom>
          <a:solidFill>
            <a:srgbClr val="10162A"/>
          </a:solidFill>
          <a:ln w="22860">
            <a:solidFill>
              <a:srgbClr val="5B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554480" y="1645920"/>
            <a:ext cx="548640" cy="548640"/>
          </a:xfrm>
          <a:prstGeom prst="ellipse">
            <a:avLst/>
          </a:prstGeom>
          <a:solidFill>
            <a:srgbClr val="DA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971800" y="1645920"/>
            <a:ext cx="548640" cy="548640"/>
          </a:xfrm>
          <a:prstGeom prst="ellipse">
            <a:avLst/>
          </a:prstGeom>
          <a:solidFill>
            <a:srgbClr val="349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389120" y="1645920"/>
            <a:ext cx="548640" cy="548640"/>
          </a:xfrm>
          <a:prstGeom prst="ellipse">
            <a:avLst/>
          </a:prstGeom>
          <a:solidFill>
            <a:srgbClr val="CDA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806440" y="1645920"/>
            <a:ext cx="548640" cy="548640"/>
          </a:xfrm>
          <a:prstGeom prst="ellipse">
            <a:avLst/>
          </a:prstGeom>
          <a:solidFill>
            <a:srgbClr val="41C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223759" y="1645920"/>
            <a:ext cx="548640" cy="548640"/>
          </a:xfrm>
          <a:prstGeom prst="ellipse">
            <a:avLst/>
          </a:prstGeom>
          <a:solidFill>
            <a:srgbClr val="C04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641080" y="1645920"/>
            <a:ext cx="548640" cy="548640"/>
          </a:xfrm>
          <a:prstGeom prst="ellipse">
            <a:avLst/>
          </a:prstGeom>
          <a:solidFill>
            <a:srgbClr val="DE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2286000"/>
            <a:ext cx="9784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Georgia"/>
              </a:rPr>
              <a:t>2D Billiards Physics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42900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8DEFF"/>
                </a:solidFill>
                <a:latin typeface="Calibri Light"/>
              </a:rPr>
              <a:t>Simulating How Billiard Balls Move and Collide Using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041648"/>
            <a:ext cx="978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C80AA"/>
                </a:solidFill>
                <a:latin typeface="Calibri Light"/>
              </a:rPr>
              <a:t>Yash Patel  |  100785833  |  yash.patel</a:t>
            </a:r>
            <a:r>
              <a:rPr lang="en-US" sz="1600" b="0">
                <a:solidFill>
                  <a:srgbClr val="6C80AA"/>
                </a:solidFill>
                <a:latin typeface="Calibri Light"/>
              </a:rPr>
              <a:t>14</a:t>
            </a:r>
            <a:r>
              <a:rPr sz="1600" b="0">
                <a:solidFill>
                  <a:srgbClr val="6C80AA"/>
                </a:solidFill>
                <a:latin typeface="Calibri Light"/>
              </a:rPr>
              <a:t>@ontariotechu.net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462272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C80AA"/>
                </a:solidFill>
                <a:latin typeface="Calibri Light"/>
              </a:rPr>
              <a:t>CSCI 3010U – Simulation and Modeling  |  Ontario Tech University  |  Winter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24128"/>
          </a:xfrm>
          <a:prstGeom prst="rect">
            <a:avLst/>
          </a:prstGeom>
          <a:solidFill>
            <a:srgbClr val="10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5B9BFF"/>
                </a:solidFill>
                <a:latin typeface="Georgia"/>
              </a:rPr>
              <a:t>What Is This Project?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80AA"/>
                </a:solidFill>
                <a:latin typeface="Calibri Light"/>
              </a:rPr>
              <a:t>CSCI 3010U  |  Yash Patel  |  100785833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100" b="1">
                <a:solidFill>
                  <a:srgbClr val="C8DEFF"/>
                </a:solidFill>
                <a:latin typeface="Georgia"/>
              </a:rPr>
              <a:t>A computer simulation of 8 billiard balls on a 2D table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6C80AA"/>
                </a:solidFill>
                <a:latin typeface="Calibri Light"/>
              </a:rPr>
              <a:t>Each ball moves, bounces off walls, and collides with other balls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6C80AA"/>
                </a:solidFill>
                <a:latin typeface="Calibri Light"/>
              </a:rPr>
              <a:t>Built on real physics principles — not just animation</a:t>
            </a:r>
          </a:p>
          <a:p>
            <a:pPr>
              <a:spcBef>
                <a:spcPts val="1400"/>
              </a:spcBef>
            </a:pPr>
            <a:endParaRPr sz="1800" b="0">
              <a:solidFill>
                <a:srgbClr val="6C80AA"/>
              </a:solidFill>
              <a:latin typeface="Calibri Light"/>
            </a:endParaRPr>
          </a:p>
          <a:p>
            <a:pPr>
              <a:spcBef>
                <a:spcPts val="1400"/>
              </a:spcBef>
            </a:pPr>
            <a:r>
              <a:rPr sz="2100" b="1">
                <a:solidFill>
                  <a:srgbClr val="C8DEFF"/>
                </a:solidFill>
                <a:latin typeface="Georgia"/>
              </a:rPr>
              <a:t>Why billiards?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6C80AA"/>
                </a:solidFill>
                <a:latin typeface="Calibri Light"/>
              </a:rPr>
              <a:t>A clear, testable example of a multi-body physics system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6C80AA"/>
                </a:solidFill>
                <a:latin typeface="Calibri Light"/>
              </a:rPr>
              <a:t>Easy to observe energy and momentum conservation in action</a:t>
            </a:r>
          </a:p>
          <a:p>
            <a:pPr>
              <a:spcBef>
                <a:spcPts val="1400"/>
              </a:spcBef>
            </a:pPr>
            <a:endParaRPr sz="1800" b="0">
              <a:solidFill>
                <a:srgbClr val="6C80AA"/>
              </a:solidFill>
              <a:latin typeface="Calibri Light"/>
            </a:endParaRPr>
          </a:p>
          <a:p>
            <a:pPr>
              <a:spcBef>
                <a:spcPts val="1400"/>
              </a:spcBef>
            </a:pPr>
            <a:r>
              <a:rPr sz="2100" b="1">
                <a:solidFill>
                  <a:srgbClr val="C8DEFF"/>
                </a:solidFill>
                <a:latin typeface="Georgia"/>
              </a:rPr>
              <a:t>What can you do with it?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6C80AA"/>
                </a:solidFill>
                <a:latin typeface="Calibri Light"/>
              </a:rPr>
              <a:t>Watch 8 balls bounce in real-time at 120 FPS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6C80AA"/>
                </a:solidFill>
                <a:latin typeface="Calibri Light"/>
              </a:rPr>
              <a:t>Adjust restitution — controls how bouncy collisions are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6C80AA"/>
                </a:solidFill>
                <a:latin typeface="Calibri Light"/>
              </a:rPr>
              <a:t>Adjust damping — controls how much friction slows the balls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24128"/>
          </a:xfrm>
          <a:prstGeom prst="rect">
            <a:avLst/>
          </a:prstGeom>
          <a:solidFill>
            <a:srgbClr val="10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5B9BFF"/>
                </a:solidFill>
                <a:latin typeface="Georgia"/>
              </a:rPr>
              <a:t>How Balls Move — The Euler 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80AA"/>
                </a:solidFill>
                <a:latin typeface="Calibri Light"/>
              </a:rPr>
              <a:t>CSCI 3010U  |  Yash Patel  |  100785833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100" b="1">
                <a:solidFill>
                  <a:srgbClr val="C8DEFF"/>
                </a:solidFill>
                <a:latin typeface="Georgia"/>
              </a:rPr>
              <a:t>Each ball has:  position (x, y)  ·  velocity (vx, vy)  ·  mass  ·  radius</a:t>
            </a:r>
          </a:p>
          <a:p>
            <a:pPr>
              <a:spcBef>
                <a:spcPts val="1400"/>
              </a:spcBef>
            </a:pPr>
            <a:endParaRPr sz="2100" b="1">
              <a:solidFill>
                <a:srgbClr val="C8DEFF"/>
              </a:solidFill>
              <a:latin typeface="Georgia"/>
            </a:endParaRPr>
          </a:p>
          <a:p>
            <a:pPr>
              <a:spcBef>
                <a:spcPts val="1400"/>
              </a:spcBef>
            </a:pPr>
            <a:r>
              <a:rPr sz="2100" b="1">
                <a:solidFill>
                  <a:srgbClr val="C8DEFF"/>
                </a:solidFill>
                <a:latin typeface="Georgia"/>
              </a:rPr>
              <a:t>Euler Method — update position every tiny time step dt</a:t>
            </a:r>
          </a:p>
          <a:p>
            <a:pPr lvl="1">
              <a:spcBef>
                <a:spcPts val="400"/>
              </a:spcBef>
            </a:pPr>
            <a:r>
              <a:rPr sz="1700" b="0">
                <a:solidFill>
                  <a:srgbClr val="37D35F"/>
                </a:solidFill>
                <a:latin typeface="Courier New"/>
              </a:rPr>
              <a:t>x(t + dt)  =  x(t)  +  vx × dt</a:t>
            </a:r>
          </a:p>
          <a:p>
            <a:pPr lvl="1">
              <a:spcBef>
                <a:spcPts val="400"/>
              </a:spcBef>
            </a:pPr>
            <a:r>
              <a:rPr sz="1700" b="0">
                <a:solidFill>
                  <a:srgbClr val="37D35F"/>
                </a:solidFill>
                <a:latin typeface="Courier New"/>
              </a:rPr>
              <a:t>y(t + dt)  =  y(t)  +  vy × dt</a:t>
            </a:r>
          </a:p>
          <a:p>
            <a:pPr>
              <a:spcBef>
                <a:spcPts val="1400"/>
              </a:spcBef>
            </a:pPr>
            <a:endParaRPr sz="1700" b="0">
              <a:solidFill>
                <a:srgbClr val="37D35F"/>
              </a:solidFill>
              <a:latin typeface="Courier New"/>
            </a:endParaRPr>
          </a:p>
          <a:p>
            <a:pPr>
              <a:spcBef>
                <a:spcPts val="1400"/>
              </a:spcBef>
            </a:pPr>
            <a:r>
              <a:rPr sz="2100" b="1">
                <a:solidFill>
                  <a:srgbClr val="C8DEFF"/>
                </a:solidFill>
                <a:latin typeface="Georgia"/>
              </a:rPr>
              <a:t>Damping — simulates friction on the table</a:t>
            </a:r>
          </a:p>
          <a:p>
            <a:pPr lvl="1">
              <a:spcBef>
                <a:spcPts val="400"/>
              </a:spcBef>
            </a:pPr>
            <a:r>
              <a:rPr sz="1700" b="0">
                <a:solidFill>
                  <a:srgbClr val="37D35F"/>
                </a:solidFill>
                <a:latin typeface="Courier New"/>
              </a:rPr>
              <a:t>velocity  =  velocity × (1 − λ × dt)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6C80AA"/>
                </a:solidFill>
                <a:latin typeface="Calibri Light"/>
              </a:rPr>
              <a:t>Higher λ  →  balls slow down faster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24128"/>
          </a:xfrm>
          <a:prstGeom prst="rect">
            <a:avLst/>
          </a:prstGeom>
          <a:solidFill>
            <a:srgbClr val="10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5B9BFF"/>
                </a:solidFill>
                <a:latin typeface="Georgia"/>
              </a:rPr>
              <a:t>Ball–Wall Collisions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80AA"/>
                </a:solidFill>
                <a:latin typeface="Calibri Light"/>
              </a:rPr>
              <a:t>CSCI 3010U  |  Yash Patel  |  100785833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100" b="1">
                <a:solidFill>
                  <a:srgbClr val="C8DEFF"/>
                </a:solidFill>
                <a:latin typeface="Georgia"/>
              </a:rPr>
              <a:t>When a ball hits the edge of the table, it bounces back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6C80AA"/>
                </a:solidFill>
                <a:latin typeface="Calibri Light"/>
              </a:rPr>
              <a:t>Hit left or right wall  →  vx becomes −vx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6C80AA"/>
                </a:solidFill>
                <a:latin typeface="Calibri Light"/>
              </a:rPr>
              <a:t>Hit top or bottom wall  →  vy becomes −vy</a:t>
            </a:r>
          </a:p>
          <a:p>
            <a:pPr>
              <a:spcBef>
                <a:spcPts val="1400"/>
              </a:spcBef>
            </a:pPr>
            <a:endParaRPr sz="1800" b="0">
              <a:solidFill>
                <a:srgbClr val="6C80AA"/>
              </a:solidFill>
              <a:latin typeface="Calibri Light"/>
            </a:endParaRPr>
          </a:p>
          <a:p>
            <a:pPr>
              <a:spcBef>
                <a:spcPts val="1400"/>
              </a:spcBef>
            </a:pPr>
            <a:r>
              <a:rPr sz="2100" b="1">
                <a:solidFill>
                  <a:srgbClr val="C8DEFF"/>
                </a:solidFill>
                <a:latin typeface="Georgia"/>
              </a:rPr>
              <a:t>Position correction — ball is nudged back inside the boundary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6C80AA"/>
                </a:solidFill>
                <a:latin typeface="Calibri Light"/>
              </a:rPr>
              <a:t>Prevents balls from tunnelling through the wall</a:t>
            </a:r>
          </a:p>
          <a:p>
            <a:pPr>
              <a:spcBef>
                <a:spcPts val="1400"/>
              </a:spcBef>
            </a:pPr>
            <a:endParaRPr sz="1800" b="0">
              <a:solidFill>
                <a:srgbClr val="6C80AA"/>
              </a:solidFill>
              <a:latin typeface="Calibri Light"/>
            </a:endParaRPr>
          </a:p>
          <a:p>
            <a:pPr>
              <a:spcBef>
                <a:spcPts val="1400"/>
              </a:spcBef>
            </a:pPr>
            <a:r>
              <a:rPr sz="2100" b="1">
                <a:solidFill>
                  <a:srgbClr val="C8DEFF"/>
                </a:solidFill>
                <a:latin typeface="Georgia"/>
              </a:rPr>
              <a:t>Wall collisions are always elastic — no energy is lost at walls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6C80AA"/>
                </a:solidFill>
                <a:latin typeface="Calibri Light"/>
              </a:rPr>
              <a:t>Energy can only be lost during ball-ball collisions (via restitution)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24128"/>
          </a:xfrm>
          <a:prstGeom prst="rect">
            <a:avLst/>
          </a:prstGeom>
          <a:solidFill>
            <a:srgbClr val="10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5B9BFF"/>
                </a:solidFill>
                <a:latin typeface="Georgia"/>
              </a:rPr>
              <a:t>Ball–Ball Collisions — The Physics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80AA"/>
                </a:solidFill>
                <a:latin typeface="Calibri Light"/>
              </a:rPr>
              <a:t>CSCI 3010U  |  Yash Patel  |  100785833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100" b="1">
                <a:solidFill>
                  <a:srgbClr val="C8DEFF"/>
                </a:solidFill>
                <a:latin typeface="Georgia"/>
              </a:rPr>
              <a:t>Step 1 — Detect:  distance between centres &lt; r1 + r2</a:t>
            </a:r>
          </a:p>
          <a:p>
            <a:pPr>
              <a:spcBef>
                <a:spcPts val="1400"/>
              </a:spcBef>
            </a:pPr>
            <a:endParaRPr sz="2100" b="1">
              <a:solidFill>
                <a:srgbClr val="C8DEFF"/>
              </a:solidFill>
              <a:latin typeface="Georgia"/>
            </a:endParaRPr>
          </a:p>
          <a:p>
            <a:pPr>
              <a:spcBef>
                <a:spcPts val="1400"/>
              </a:spcBef>
            </a:pPr>
            <a:r>
              <a:rPr sz="2100" b="1">
                <a:solidFill>
                  <a:srgbClr val="C8DEFF"/>
                </a:solidFill>
                <a:latin typeface="Georgia"/>
              </a:rPr>
              <a:t>Step 2 — Respond:  impulse using Newton's Law of Restitution</a:t>
            </a:r>
          </a:p>
          <a:p>
            <a:pPr lvl="1">
              <a:spcBef>
                <a:spcPts val="400"/>
              </a:spcBef>
            </a:pPr>
            <a:r>
              <a:rPr sz="1700" b="0">
                <a:solidFill>
                  <a:srgbClr val="37D35F"/>
                </a:solidFill>
                <a:latin typeface="Courier New"/>
              </a:rPr>
              <a:t>J  =  −(1 + e) × dvn  ÷  (1/m1 + 1/m2)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6C80AA"/>
                </a:solidFill>
                <a:latin typeface="Calibri Light"/>
              </a:rPr>
              <a:t>e = restitution (elasticity parameter)  ·  dvn = relative speed along normal</a:t>
            </a:r>
          </a:p>
          <a:p>
            <a:pPr>
              <a:spcBef>
                <a:spcPts val="1400"/>
              </a:spcBef>
            </a:pPr>
            <a:endParaRPr sz="1800" b="0">
              <a:solidFill>
                <a:srgbClr val="6C80AA"/>
              </a:solidFill>
              <a:latin typeface="Calibri Light"/>
            </a:endParaRPr>
          </a:p>
          <a:p>
            <a:pPr>
              <a:spcBef>
                <a:spcPts val="1400"/>
              </a:spcBef>
            </a:pPr>
            <a:r>
              <a:rPr sz="2100" b="1">
                <a:solidFill>
                  <a:srgbClr val="C8DEFF"/>
                </a:solidFill>
                <a:latin typeface="Georgia"/>
              </a:rPr>
              <a:t>Step 3 — Separate:  push balls apart to remove overlap</a:t>
            </a:r>
          </a:p>
          <a:p>
            <a:pPr>
              <a:spcBef>
                <a:spcPts val="1400"/>
              </a:spcBef>
            </a:pPr>
            <a:endParaRPr sz="2100" b="1">
              <a:solidFill>
                <a:srgbClr val="C8DEFF"/>
              </a:solidFill>
              <a:latin typeface="Georgia"/>
            </a:endParaRPr>
          </a:p>
          <a:p>
            <a:pPr>
              <a:spcBef>
                <a:spcPts val="1400"/>
              </a:spcBef>
            </a:pPr>
            <a:r>
              <a:rPr sz="2100" b="1">
                <a:solidFill>
                  <a:srgbClr val="C8DEFF"/>
                </a:solidFill>
                <a:latin typeface="Georgia"/>
              </a:rPr>
              <a:t>Restitution = 1.0  →  Perfectly elastic  (no kinetic energy lost)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6C80AA"/>
                </a:solidFill>
                <a:latin typeface="Calibri Light"/>
              </a:rPr>
              <a:t>Restitution = 0.0  →  Perfectly inelastic  (maximum energy lost)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24128"/>
          </a:xfrm>
          <a:prstGeom prst="rect">
            <a:avLst/>
          </a:prstGeom>
          <a:solidFill>
            <a:srgbClr val="10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5B9BFF"/>
                </a:solidFill>
                <a:latin typeface="Georgia"/>
              </a:rPr>
              <a:t>The Interactive Simulation (Live Demo)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80AA"/>
                </a:solidFill>
                <a:latin typeface="Calibri Light"/>
              </a:rPr>
              <a:t>CSCI 3010U  |  Yash Patel  |  100785833</a:t>
            </a:r>
          </a:p>
        </p:txBody>
      </p:sp>
      <p:pic>
        <p:nvPicPr>
          <p:cNvPr id="7" name="Picture 6" descr="simulation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47120" cy="5257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2910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C80AA"/>
                </a:solidFill>
                <a:latin typeface="Calibri Light"/>
              </a:rPr>
              <a:t>Controls:  ↑↓ change damping  |  ←→ change restitution  |  SPACE pauses  |  R resets  |  Running at 120 FPS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24128"/>
          </a:xfrm>
          <a:prstGeom prst="rect">
            <a:avLst/>
          </a:prstGeom>
          <a:solidFill>
            <a:srgbClr val="10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5B9BFF"/>
                </a:solidFill>
                <a:latin typeface="Georgia"/>
              </a:rPr>
              <a:t>Experiment 1 — Effect of Restitution on Kinetic Energy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80AA"/>
                </a:solidFill>
                <a:latin typeface="Calibri Light"/>
              </a:rPr>
              <a:t>CSCI 3010U  |  Yash Patel  |  100785833</a:t>
            </a:r>
          </a:p>
        </p:txBody>
      </p:sp>
      <p:pic>
        <p:nvPicPr>
          <p:cNvPr id="7" name="Picture 6" descr="experiment1_restit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47120" cy="5257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2910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C80AA"/>
                </a:solidFill>
                <a:latin typeface="Calibri Light"/>
              </a:rPr>
              <a:t>Restitution = 1.0 → energy stays constant  |  Lower restitution → energy drops at each collision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24128"/>
          </a:xfrm>
          <a:prstGeom prst="rect">
            <a:avLst/>
          </a:prstGeom>
          <a:solidFill>
            <a:srgbClr val="10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5B9BFF"/>
                </a:solidFill>
                <a:latin typeface="Georgia"/>
              </a:rPr>
              <a:t>Experiment 2 — Effect of Damping (Friction) on Kinetic Energy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80AA"/>
                </a:solidFill>
                <a:latin typeface="Calibri Light"/>
              </a:rPr>
              <a:t>CSCI 3010U  |  Yash Patel  |  100785833</a:t>
            </a:r>
          </a:p>
        </p:txBody>
      </p:sp>
      <p:pic>
        <p:nvPicPr>
          <p:cNvPr id="7" name="Picture 6" descr="experiment2_dam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47120" cy="5257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2910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C80AA"/>
                </a:solidFill>
                <a:latin typeface="Calibri Light"/>
              </a:rPr>
              <a:t>λ = 0 → energy conserved  |  λ = 0.2 → gradual decay  |  λ = 0.6 → balls stop within ~4 seconds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24128"/>
          </a:xfrm>
          <a:prstGeom prst="rect">
            <a:avLst/>
          </a:prstGeom>
          <a:solidFill>
            <a:srgbClr val="10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5B9BFF"/>
                </a:solidFill>
                <a:latin typeface="Georgia"/>
              </a:rPr>
              <a:t>Experiment 3 — Total Momentum Over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80AA"/>
                </a:solidFill>
                <a:latin typeface="Calibri Light"/>
              </a:rPr>
              <a:t>CSCI 3010U  |  Yash Patel  |  100785833</a:t>
            </a:r>
          </a:p>
        </p:txBody>
      </p:sp>
      <p:pic>
        <p:nvPicPr>
          <p:cNvPr id="7" name="Picture 6" descr="experiment3_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47120" cy="5257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2910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C80AA"/>
                </a:solidFill>
                <a:latin typeface="Calibri Light"/>
              </a:rPr>
              <a:t>Ball-ball collisions conserve momentum in the absence of external forces. Wall reflections change the system momentum.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24128"/>
          </a:xfrm>
          <a:prstGeom prst="rect">
            <a:avLst/>
          </a:prstGeom>
          <a:solidFill>
            <a:srgbClr val="10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5B9BFF"/>
                </a:solidFill>
                <a:latin typeface="Georgia"/>
              </a:rPr>
              <a:t>Key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80AA"/>
                </a:solidFill>
                <a:latin typeface="Calibri Light"/>
              </a:rPr>
              <a:t>CSCI 3010U  |  Yash Patel  |  100785833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100" b="1">
                <a:solidFill>
                  <a:srgbClr val="C8DEFF"/>
                </a:solidFill>
                <a:latin typeface="Georgia"/>
              </a:rPr>
              <a:t>Restitution (elasticity parameter):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6C80AA"/>
                </a:solidFill>
                <a:latin typeface="Calibri Light"/>
              </a:rPr>
              <a:t>Restitution = 1.0  →  kinetic energy stays perfectly constant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6C80AA"/>
                </a:solidFill>
                <a:latin typeface="Calibri Light"/>
              </a:rPr>
              <a:t>Restitution = 0.7  →  energy drops in steps at each collision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6C80AA"/>
                </a:solidFill>
                <a:latin typeface="Calibri Light"/>
              </a:rPr>
              <a:t>Restitution = 0.4  →  energy drops much faster after every hit</a:t>
            </a:r>
          </a:p>
          <a:p>
            <a:pPr>
              <a:spcBef>
                <a:spcPts val="1400"/>
              </a:spcBef>
            </a:pPr>
            <a:endParaRPr sz="1800" b="0">
              <a:solidFill>
                <a:srgbClr val="6C80AA"/>
              </a:solidFill>
              <a:latin typeface="Calibri Light"/>
            </a:endParaRPr>
          </a:p>
          <a:p>
            <a:pPr>
              <a:spcBef>
                <a:spcPts val="1400"/>
              </a:spcBef>
            </a:pPr>
            <a:r>
              <a:rPr sz="2100" b="1">
                <a:solidFill>
                  <a:srgbClr val="C8DEFF"/>
                </a:solidFill>
                <a:latin typeface="Georgia"/>
              </a:rPr>
              <a:t>Damping (friction coefficient):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6C80AA"/>
                </a:solidFill>
                <a:latin typeface="Calibri Light"/>
              </a:rPr>
              <a:t>λ = 0.0  →  balls never stop, energy is fully conserved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6C80AA"/>
                </a:solidFill>
                <a:latin typeface="Calibri Light"/>
              </a:rPr>
              <a:t>λ = 0.2  →  balls slow down gradually over time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6C80AA"/>
                </a:solidFill>
                <a:latin typeface="Calibri Light"/>
              </a:rPr>
              <a:t>λ = 0.6  →  balls come to rest within approximately 4 seconds</a:t>
            </a:r>
          </a:p>
          <a:p>
            <a:pPr>
              <a:spcBef>
                <a:spcPts val="1400"/>
              </a:spcBef>
            </a:pPr>
            <a:endParaRPr sz="1800" b="0">
              <a:solidFill>
                <a:srgbClr val="6C80AA"/>
              </a:solidFill>
              <a:latin typeface="Calibri Light"/>
            </a:endParaRPr>
          </a:p>
          <a:p>
            <a:pPr>
              <a:spcBef>
                <a:spcPts val="1400"/>
              </a:spcBef>
            </a:pPr>
            <a:r>
              <a:rPr sz="2100" b="1">
                <a:solidFill>
                  <a:srgbClr val="C8DEFF"/>
                </a:solidFill>
                <a:latin typeface="Georgia"/>
              </a:rPr>
              <a:t>Momentum: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6C80AA"/>
                </a:solidFill>
                <a:latin typeface="Calibri Light"/>
              </a:rPr>
              <a:t>Ball-ball collisions conserve momentum in the absence of external forces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6C80AA"/>
                </a:solidFill>
                <a:latin typeface="Calibri Light"/>
              </a:rPr>
              <a:t>Wall reflections change the system momentum, as expected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24128"/>
          </a:xfrm>
          <a:prstGeom prst="rect">
            <a:avLst/>
          </a:prstGeom>
          <a:solidFill>
            <a:srgbClr val="10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5B9BFF"/>
                </a:solidFill>
                <a:latin typeface="Georgia"/>
              </a:rPr>
              <a:t>Project Goals — All Achieved  ✓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4710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80AA"/>
                </a:solidFill>
                <a:latin typeface="Calibri Light"/>
              </a:rPr>
              <a:t>CSCI 3010U  |  Yash Patel  |  100785833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100" b="1">
                <a:solidFill>
                  <a:srgbClr val="C8DEFF"/>
                </a:solidFill>
                <a:latin typeface="Georgia"/>
              </a:rPr>
              <a:t>✓  Euler method implemented and working correctly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6C80AA"/>
                </a:solidFill>
                <a:latin typeface="Calibri Light"/>
              </a:rPr>
              <a:t>Position updates match expected numerical integration output</a:t>
            </a:r>
          </a:p>
          <a:p>
            <a:pPr>
              <a:spcBef>
                <a:spcPts val="1400"/>
              </a:spcBef>
            </a:pPr>
            <a:endParaRPr sz="1800" b="0">
              <a:solidFill>
                <a:srgbClr val="6C80AA"/>
              </a:solidFill>
              <a:latin typeface="Calibri Light"/>
            </a:endParaRPr>
          </a:p>
          <a:p>
            <a:pPr>
              <a:spcBef>
                <a:spcPts val="1400"/>
              </a:spcBef>
            </a:pPr>
            <a:r>
              <a:rPr sz="2100" b="1">
                <a:solidFill>
                  <a:srgbClr val="C8DEFF"/>
                </a:solidFill>
                <a:latin typeface="Georgia"/>
              </a:rPr>
              <a:t>✓  Realistic wall bouncing via elastic velocity reversal</a:t>
            </a:r>
          </a:p>
          <a:p>
            <a:pPr>
              <a:spcBef>
                <a:spcPts val="1400"/>
              </a:spcBef>
            </a:pPr>
            <a:endParaRPr sz="2100" b="1">
              <a:solidFill>
                <a:srgbClr val="C8DEFF"/>
              </a:solidFill>
              <a:latin typeface="Georgia"/>
            </a:endParaRPr>
          </a:p>
          <a:p>
            <a:pPr>
              <a:spcBef>
                <a:spcPts val="1400"/>
              </a:spcBef>
            </a:pPr>
            <a:r>
              <a:rPr sz="2100" b="1">
                <a:solidFill>
                  <a:srgbClr val="C8DEFF"/>
                </a:solidFill>
                <a:latin typeface="Georgia"/>
              </a:rPr>
              <a:t>✓  Ball-ball collisions using Newton's Law of Restitution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6C80AA"/>
                </a:solidFill>
                <a:latin typeface="Calibri Light"/>
              </a:rPr>
              <a:t>Energy and momentum formulas verified by all three experiments</a:t>
            </a:r>
          </a:p>
          <a:p>
            <a:pPr>
              <a:spcBef>
                <a:spcPts val="1400"/>
              </a:spcBef>
            </a:pPr>
            <a:endParaRPr sz="1800" b="0">
              <a:solidFill>
                <a:srgbClr val="6C80AA"/>
              </a:solidFill>
              <a:latin typeface="Calibri Light"/>
            </a:endParaRPr>
          </a:p>
          <a:p>
            <a:pPr>
              <a:spcBef>
                <a:spcPts val="1400"/>
              </a:spcBef>
            </a:pPr>
            <a:r>
              <a:rPr sz="2100" b="1">
                <a:solidFill>
                  <a:srgbClr val="C8DEFF"/>
                </a:solidFill>
                <a:latin typeface="Georgia"/>
              </a:rPr>
              <a:t>✓  Damping (friction) produces exponential energy decay</a:t>
            </a:r>
          </a:p>
          <a:p>
            <a:pPr lvl="1">
              <a:spcBef>
                <a:spcPts val="300"/>
              </a:spcBef>
            </a:pPr>
            <a:r>
              <a:rPr sz="1800" b="0">
                <a:solidFill>
                  <a:srgbClr val="6C80AA"/>
                </a:solidFill>
                <a:latin typeface="Calibri Light"/>
              </a:rPr>
              <a:t>Clearly confirmed in Experiment 2 graphs</a:t>
            </a:r>
          </a:p>
          <a:p>
            <a:pPr>
              <a:spcBef>
                <a:spcPts val="1400"/>
              </a:spcBef>
            </a:pPr>
            <a:endParaRPr sz="1800" b="0">
              <a:solidFill>
                <a:srgbClr val="6C80AA"/>
              </a:solidFill>
              <a:latin typeface="Calibri Light"/>
            </a:endParaRPr>
          </a:p>
          <a:p>
            <a:pPr>
              <a:spcBef>
                <a:spcPts val="1400"/>
              </a:spcBef>
            </a:pPr>
            <a:r>
              <a:rPr sz="2100" b="1">
                <a:solidFill>
                  <a:srgbClr val="C8DEFF"/>
                </a:solidFill>
                <a:latin typeface="Georgia"/>
              </a:rPr>
              <a:t>✓  All 3 experiments completed — graphs match expected physics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37D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5840" y="1005840"/>
            <a:ext cx="10149840" cy="4846320"/>
          </a:xfrm>
          <a:prstGeom prst="rect">
            <a:avLst/>
          </a:prstGeom>
          <a:solidFill>
            <a:srgbClr val="10162A"/>
          </a:solidFill>
          <a:ln w="22860">
            <a:solidFill>
              <a:srgbClr val="5B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9784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5B9BFF"/>
                </a:solidFill>
                <a:latin typeface="Georgia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65960"/>
            <a:ext cx="9418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EFF"/>
                </a:solidFill>
                <a:latin typeface="Calibri Light"/>
              </a:rPr>
              <a:t>🎱  Built a working 2D billiards simulation using Python and Pygame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23160"/>
            <a:ext cx="9418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EFF"/>
                </a:solidFill>
                <a:latin typeface="Calibri Light"/>
              </a:rPr>
              <a:t>📐  Used the Euler method to update ball positions each 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880360"/>
            <a:ext cx="9418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EFF"/>
                </a:solidFill>
                <a:latin typeface="Calibri Light"/>
              </a:rPr>
              <a:t>💥  Applied Newton's Law of Restitution for ball-ball collisions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337560"/>
            <a:ext cx="9418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EFF"/>
                </a:solidFill>
                <a:latin typeface="Calibri Light"/>
              </a:rPr>
              <a:t>🌊  Added damping to simulate friction and energy loss over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94760"/>
            <a:ext cx="9418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7D35F"/>
                </a:solidFill>
                <a:latin typeface="Calibri Light"/>
              </a:rPr>
              <a:t>📊  Ran 3 experiments — results confirmed the physics principles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51960"/>
            <a:ext cx="9418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7D35F"/>
                </a:solidFill>
                <a:latin typeface="Calibri Light"/>
              </a:rPr>
              <a:t>✅  All project goals from the proposal were successfully completed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53212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C80AA"/>
                </a:solidFill>
                <a:latin typeface="Georgia"/>
              </a:rPr>
              <a:t>Thank You  —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821</Words>
  <Application>Microsoft Office PowerPoint</Application>
  <PresentationFormat>Custom</PresentationFormat>
  <Paragraphs>101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Yash Patel</cp:lastModifiedBy>
  <cp:revision>2</cp:revision>
  <dcterms:created xsi:type="dcterms:W3CDTF">2013-01-27T09:14:16Z</dcterms:created>
  <dcterms:modified xsi:type="dcterms:W3CDTF">2026-04-07T02:07:32Z</dcterms:modified>
  <cp:category/>
</cp:coreProperties>
</file>